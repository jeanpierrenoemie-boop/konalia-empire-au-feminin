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E4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02920"/>
            <a:ext cx="12191695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200" b="1">
                <a:solidFill>
                  <a:srgbClr val="141310"/>
                </a:solidFill>
                <a:latin typeface="Arial"/>
              </a:rPr>
              <a:t>NOÉMIE.K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103120"/>
            <a:ext cx="9966960" cy="2011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6600" b="1">
                <a:solidFill>
                  <a:srgbClr val="141310"/>
                </a:solidFill>
                <a:latin typeface="Arial"/>
              </a:rPr>
              <a:t>Atelier Reprends le Contrôle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297680"/>
            <a:ext cx="941832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800" b="1">
                <a:solidFill>
                  <a:srgbClr val="141310"/>
                </a:solidFill>
                <a:latin typeface="Arial"/>
              </a:rPr>
              <a:t>2 HEURES POUR CONSTRUIRE TA PREMIÈRE OFFRE · GRATUIT · 5 PARTICIPANTES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5F5B52"/>
                </a:solidFill>
                <a:latin typeface="Arial"/>
              </a:rPr>
              <a:t>OCTOBRE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6355080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5F5B52"/>
                </a:solidFill>
                <a:latin typeface="Arial"/>
              </a:rPr>
              <a:t>01/36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35508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1">
                <a:solidFill>
                  <a:srgbClr val="5F5B52"/>
                </a:solidFill>
                <a:latin typeface="Arial"/>
              </a:rPr>
              <a:t>NOÉMIE.K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E4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400" b="1">
                <a:solidFill>
                  <a:srgbClr val="141310"/>
                </a:solidFill>
                <a:latin typeface="Arial"/>
              </a:rPr>
              <a:t>Sommaire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9144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E8431F"/>
                </a:solidFill>
                <a:latin typeface="Arial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755648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141310"/>
                </a:solidFill>
                <a:latin typeface="Arial"/>
              </a:rPr>
              <a:t>Le cadre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04288"/>
            <a:ext cx="9144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E8431F"/>
                </a:solidFill>
                <a:latin typeface="Arial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322576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141310"/>
                </a:solidFill>
                <a:latin typeface="Arial"/>
              </a:rPr>
              <a:t>Ta valeur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71215"/>
            <a:ext cx="9144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E8431F"/>
                </a:solidFill>
                <a:latin typeface="Arial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889503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141310"/>
                </a:solidFill>
                <a:latin typeface="Arial"/>
              </a:rPr>
              <a:t>Ta cible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38144"/>
            <a:ext cx="9144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E8431F"/>
                </a:solidFill>
                <a:latin typeface="Arial"/>
              </a:rP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456432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141310"/>
                </a:solidFill>
                <a:latin typeface="Arial"/>
              </a:rPr>
              <a:t>Ta Bulle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005072"/>
            <a:ext cx="9144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E8431F"/>
                </a:solidFill>
                <a:latin typeface="Arial"/>
              </a:rPr>
              <a:t>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023359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141310"/>
                </a:solidFill>
                <a:latin typeface="Arial"/>
              </a:rPr>
              <a:t>Ton offre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572000"/>
            <a:ext cx="9144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E8431F"/>
                </a:solidFill>
                <a:latin typeface="Arial"/>
              </a:rPr>
              <a:t>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590288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141310"/>
                </a:solidFill>
                <a:latin typeface="Arial"/>
              </a:rPr>
              <a:t>Tes prochaines 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138927"/>
            <a:ext cx="9144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E8431F"/>
                </a:solidFill>
                <a:latin typeface="Arial"/>
              </a:rPr>
              <a:t>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157215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141310"/>
                </a:solidFill>
                <a:latin typeface="Arial"/>
              </a:rPr>
              <a:t>La suite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5F5B52"/>
                </a:solidFill>
                <a:latin typeface="Arial"/>
              </a:rPr>
              <a:t>OCTOBRE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6355080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5F5B52"/>
                </a:solidFill>
                <a:latin typeface="Arial"/>
              </a:rPr>
              <a:t>02/36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635508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1">
                <a:solidFill>
                  <a:srgbClr val="5F5B52"/>
                </a:solidFill>
                <a:latin typeface="Arial"/>
              </a:rPr>
              <a:t>NOÉMIE.K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E4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400" b="1">
                <a:solidFill>
                  <a:srgbClr val="141310"/>
                </a:solidFill>
                <a:latin typeface="Arial"/>
              </a:rPr>
              <a:t>Ce que nous faisons aujourd'hui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9692640" cy="4023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1310"/>
                </a:solidFill>
                <a:latin typeface="Arial"/>
              </a:rPr>
              <a:t>Construire une première version de ton offre. Aucune promesse de revenu. Ton avis honnête, même critique, m'aide aussi à améliorer le programme.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5F5B52"/>
                </a:solidFill>
                <a:latin typeface="Arial"/>
              </a:rPr>
              <a:t>OCTOBRE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80" y="6355080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5F5B52"/>
                </a:solidFill>
                <a:latin typeface="Arial"/>
              </a:rPr>
              <a:t>03/36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635508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1">
                <a:solidFill>
                  <a:srgbClr val="5F5B52"/>
                </a:solidFill>
                <a:latin typeface="Arial"/>
              </a:rPr>
              <a:t>NOÉMIE.K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E4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400" b="1">
                <a:solidFill>
                  <a:srgbClr val="141310"/>
                </a:solidFill>
                <a:latin typeface="Arial"/>
              </a:rPr>
              <a:t>Ce que je ne vais pas te demander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9692640" cy="4023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1310"/>
                </a:solidFill>
                <a:latin typeface="Arial"/>
              </a:rPr>
              <a:t>DÉMISSIONNER. Aujourd'hui, on construit avant de décider.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5F5B52"/>
                </a:solidFill>
                <a:latin typeface="Arial"/>
              </a:rPr>
              <a:t>OCTOBRE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80" y="6355080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5F5B52"/>
                </a:solidFill>
                <a:latin typeface="Arial"/>
              </a:rPr>
              <a:t>04/36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635508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1">
                <a:solidFill>
                  <a:srgbClr val="5F5B52"/>
                </a:solidFill>
                <a:latin typeface="Arial"/>
              </a:rPr>
              <a:t>NOÉMIE.K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E4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400" b="1">
                <a:solidFill>
                  <a:srgbClr val="141310"/>
                </a:solidFill>
                <a:latin typeface="Arial"/>
              </a:rPr>
              <a:t>Le déclic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9692640" cy="4023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1310"/>
                </a:solidFill>
                <a:latin typeface="Arial"/>
              </a:rPr>
              <a:t>Et si ce que tu sais déjà faire pouvait commencer à travailler pour toi ? Tour de table : prénom, métier, ce qui te retient aujourd'hui.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5F5B52"/>
                </a:solidFill>
                <a:latin typeface="Arial"/>
              </a:rPr>
              <a:t>OCTOBRE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80" y="6355080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5F5B52"/>
                </a:solidFill>
                <a:latin typeface="Arial"/>
              </a:rPr>
              <a:t>05/36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635508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1">
                <a:solidFill>
                  <a:srgbClr val="5F5B52"/>
                </a:solidFill>
                <a:latin typeface="Arial"/>
              </a:rPr>
              <a:t>NOÉMIE.K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E4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400" b="1">
                <a:solidFill>
                  <a:srgbClr val="141310"/>
                </a:solidFill>
                <a:latin typeface="Arial"/>
              </a:rPr>
              <a:t>La méthode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000" b="0">
                <a:solidFill>
                  <a:srgbClr val="5F5B52"/>
                </a:solidFill>
                <a:latin typeface="Arial"/>
              </a:rPr>
              <a:t>Un chemin pour passer de « j'y pense » à une première preuve.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834640"/>
            <a:ext cx="1956815" cy="2286000"/>
          </a:xfrm>
          <a:prstGeom prst="roundRect">
            <a:avLst>
              <a:gd name="adj" fmla="val 6000"/>
            </a:avLst>
          </a:prstGeom>
          <a:solidFill>
            <a:srgbClr val="1D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926080"/>
            <a:ext cx="1737359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FF8A65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383280"/>
            <a:ext cx="1737359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Salariée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160520"/>
            <a:ext cx="1737359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rial"/>
              </a:rPr>
              <a:t>Tu restes en poste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87168" y="3749039"/>
            <a:ext cx="356615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000" b="1">
                <a:solidFill>
                  <a:srgbClr val="E8431F"/>
                </a:solidFill>
                <a:latin typeface="Arial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25496" y="2834640"/>
            <a:ext cx="1956815" cy="2286000"/>
          </a:xfrm>
          <a:prstGeom prst="roundRect">
            <a:avLst>
              <a:gd name="adj" fmla="val 6000"/>
            </a:avLst>
          </a:prstGeom>
          <a:solidFill>
            <a:srgbClr val="F4F1EB"/>
          </a:solidFill>
          <a:ln w="12700">
            <a:solidFill>
              <a:srgbClr val="C9C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35224" y="2926080"/>
            <a:ext cx="1737359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E8431F"/>
                </a:solidFill>
                <a:latin typeface="Arial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35224" y="3383280"/>
            <a:ext cx="1737359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1">
                <a:solidFill>
                  <a:srgbClr val="141310"/>
                </a:solidFill>
                <a:latin typeface="Arial"/>
              </a:rPr>
              <a:t>Je construis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35224" y="4160520"/>
            <a:ext cx="1737359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141310"/>
                </a:solidFill>
                <a:latin typeface="Arial"/>
              </a:rPr>
              <a:t>Mon offre V0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64024" y="3749039"/>
            <a:ext cx="356615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000" b="1">
                <a:solidFill>
                  <a:srgbClr val="E8431F"/>
                </a:solidFill>
                <a:latin typeface="Arial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02351" y="2834640"/>
            <a:ext cx="1956815" cy="2286000"/>
          </a:xfrm>
          <a:prstGeom prst="roundRect">
            <a:avLst>
              <a:gd name="adj" fmla="val 6000"/>
            </a:avLst>
          </a:prstGeom>
          <a:solidFill>
            <a:srgbClr val="1D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79" y="2926080"/>
            <a:ext cx="1737359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FF8A65"/>
                </a:solidFill>
                <a:latin typeface="Arial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79" y="3383280"/>
            <a:ext cx="1737359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Je teste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79" y="4160520"/>
            <a:ext cx="1737359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rial"/>
              </a:rPr>
              <a:t>Auprès de vraies personnes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79" y="3749039"/>
            <a:ext cx="356615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000" b="1">
                <a:solidFill>
                  <a:srgbClr val="E8431F"/>
                </a:solidFill>
                <a:latin typeface="Arial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79207" y="2834640"/>
            <a:ext cx="1956815" cy="2286000"/>
          </a:xfrm>
          <a:prstGeom prst="roundRect">
            <a:avLst>
              <a:gd name="adj" fmla="val 6000"/>
            </a:avLst>
          </a:prstGeom>
          <a:solidFill>
            <a:srgbClr val="F4F1EB"/>
          </a:solidFill>
          <a:ln w="12700">
            <a:solidFill>
              <a:srgbClr val="C9C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88935" y="2926080"/>
            <a:ext cx="1737359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E8431F"/>
                </a:solidFill>
                <a:latin typeface="Arial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88935" y="3383280"/>
            <a:ext cx="1737359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1">
                <a:solidFill>
                  <a:srgbClr val="141310"/>
                </a:solidFill>
                <a:latin typeface="Arial"/>
              </a:rPr>
              <a:t>J'obtiens des preuves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88935" y="4160520"/>
            <a:ext cx="1737359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141310"/>
                </a:solidFill>
                <a:latin typeface="Arial"/>
              </a:rPr>
              <a:t>Des faits, pas des impressions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17735" y="3749039"/>
            <a:ext cx="356615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000" b="1">
                <a:solidFill>
                  <a:srgbClr val="E8431F"/>
                </a:solidFill>
                <a:latin typeface="Arial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56063" y="2834640"/>
            <a:ext cx="1956815" cy="2286000"/>
          </a:xfrm>
          <a:prstGeom prst="roundRect">
            <a:avLst>
              <a:gd name="adj" fmla="val 6000"/>
            </a:avLst>
          </a:prstGeom>
          <a:solidFill>
            <a:srgbClr val="1D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65791" y="2926080"/>
            <a:ext cx="1737359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FF8A65"/>
                </a:solidFill>
                <a:latin typeface="Arial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65791" y="3383280"/>
            <a:ext cx="1737359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Je décide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65791" y="4160520"/>
            <a:ext cx="1737359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rial"/>
              </a:rPr>
              <a:t>Continuer, ajuster ou arrêter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5F5B52"/>
                </a:solidFill>
                <a:latin typeface="Arial"/>
              </a:rPr>
              <a:t>OCTOBRE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6355080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5F5B52"/>
                </a:solidFill>
                <a:latin typeface="Arial"/>
              </a:rPr>
              <a:t>06/36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35508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1">
                <a:solidFill>
                  <a:srgbClr val="5F5B52"/>
                </a:solidFill>
                <a:latin typeface="Arial"/>
              </a:rPr>
              <a:t>NOÉMIE.K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E4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400" b="1">
                <a:solidFill>
                  <a:srgbClr val="141310"/>
                </a:solidFill>
                <a:latin typeface="Arial"/>
              </a:rPr>
              <a:t>Notre contrat pour les 2 heures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9692640" cy="4023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1310"/>
                </a:solidFill>
                <a:latin typeface="Arial"/>
              </a:rPr>
              <a:t>Tu repars avec : 1 cible test, 1 Bulle V0, 1 offre V0, 3 prochaines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5F5B52"/>
                </a:solidFill>
                <a:latin typeface="Arial"/>
              </a:rPr>
              <a:t>OCTOBRE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80" y="6355080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5F5B52"/>
                </a:solidFill>
                <a:latin typeface="Arial"/>
              </a:rPr>
              <a:t>07/36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635508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1">
                <a:solidFill>
                  <a:srgbClr val="5F5B52"/>
                </a:solidFill>
                <a:latin typeface="Arial"/>
              </a:rPr>
              <a:t>NOÉMIE.K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E4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800" b="1">
                <a:solidFill>
                  <a:srgbClr val="141310"/>
                </a:solidFill>
                <a:latin typeface="Arial"/>
              </a:rPr>
              <a:t>Étape 1 : ce que tu sais déjà faire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9692640" cy="4023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1310"/>
                </a:solidFill>
                <a:latin typeface="Arial"/>
              </a:rPr>
              <a:t>Tu n'as probablement pas besoin d'apprendre un nouveau métier.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5F5B52"/>
                </a:solidFill>
                <a:latin typeface="Arial"/>
              </a:rPr>
              <a:t>OCTOBRE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80" y="6355080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5F5B52"/>
                </a:solidFill>
                <a:latin typeface="Arial"/>
              </a:rPr>
              <a:t>08/36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635508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1">
                <a:solidFill>
                  <a:srgbClr val="5F5B52"/>
                </a:solidFill>
                <a:latin typeface="Arial"/>
              </a:rPr>
              <a:t>NOÉMIE.K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E4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400" b="1">
                <a:solidFill>
                  <a:srgbClr val="141310"/>
                </a:solidFill>
                <a:latin typeface="Arial"/>
              </a:rPr>
              <a:t>On vient me chercher pour…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9692640" cy="4023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1310"/>
                </a:solidFill>
                <a:latin typeface="Arial"/>
              </a:rPr>
              <a:t>Quand il y a ______, on vient me voir. Je suis particulièrement bonne pour ______. Le problème que je règle régulièrement : ______.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5F5B52"/>
                </a:solidFill>
                <a:latin typeface="Arial"/>
              </a:rPr>
              <a:t>OCTOBRE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80" y="6355080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5F5B52"/>
                </a:solidFill>
                <a:latin typeface="Arial"/>
              </a:rPr>
              <a:t>09/36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635508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1">
                <a:solidFill>
                  <a:srgbClr val="5F5B52"/>
                </a:solidFill>
                <a:latin typeface="Arial"/>
              </a:rPr>
              <a:t>NOÉMIE.K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E4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800" b="1">
                <a:solidFill>
                  <a:srgbClr val="141310"/>
                </a:solidFill>
                <a:latin typeface="Arial"/>
              </a:rPr>
              <a:t>Le piège : « Je sais faire Excel. 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9692640" cy="4023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1310"/>
                </a:solidFill>
                <a:latin typeface="Arial"/>
              </a:rPr>
              <a:t>Et alors ? Une compétence seule ne dit pas encore pourquoi quelqu'un paierait.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5F5B52"/>
                </a:solidFill>
                <a:latin typeface="Arial"/>
              </a:rPr>
              <a:t>OCTOBRE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80" y="6355080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5F5B52"/>
                </a:solidFill>
                <a:latin typeface="Arial"/>
              </a:rPr>
              <a:t>10/36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635508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1">
                <a:solidFill>
                  <a:srgbClr val="5F5B52"/>
                </a:solidFill>
                <a:latin typeface="Arial"/>
              </a:rPr>
              <a:t>NOÉMIE.K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E4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400" b="1">
                <a:solidFill>
                  <a:srgbClr val="141310"/>
                </a:solidFill>
                <a:latin typeface="Arial"/>
              </a:rPr>
              <a:t>Tâche, problème, résultat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000" b="0">
                <a:solidFill>
                  <a:srgbClr val="5F5B52"/>
                </a:solidFill>
                <a:latin typeface="Arial"/>
              </a:rPr>
              <a:t>Le client ne paie pas Excel. Il paie ce qu'Excel lui permet de reprendre sous contrôle.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834640"/>
            <a:ext cx="3474720" cy="2286000"/>
          </a:xfrm>
          <a:prstGeom prst="roundRect">
            <a:avLst>
              <a:gd name="adj" fmla="val 6000"/>
            </a:avLst>
          </a:prstGeom>
          <a:solidFill>
            <a:srgbClr val="1D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926080"/>
            <a:ext cx="325526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FF8A65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383280"/>
            <a:ext cx="3255264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Tâche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160520"/>
            <a:ext cx="3255264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rial"/>
              </a:rPr>
              <a:t>Je fais des tableaux Excel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5072" y="3749039"/>
            <a:ext cx="356615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000" b="1">
                <a:solidFill>
                  <a:srgbClr val="E8431F"/>
                </a:solidFill>
                <a:latin typeface="Arial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834640"/>
            <a:ext cx="3474720" cy="2286000"/>
          </a:xfrm>
          <a:prstGeom prst="roundRect">
            <a:avLst>
              <a:gd name="adj" fmla="val 6000"/>
            </a:avLst>
          </a:prstGeom>
          <a:solidFill>
            <a:srgbClr val="F4F1EB"/>
          </a:solidFill>
          <a:ln w="12700">
            <a:solidFill>
              <a:srgbClr val="C9C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3128" y="2926080"/>
            <a:ext cx="325526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E8431F"/>
                </a:solidFill>
                <a:latin typeface="Arial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3128" y="3383280"/>
            <a:ext cx="3255264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1">
                <a:solidFill>
                  <a:srgbClr val="141310"/>
                </a:solidFill>
                <a:latin typeface="Arial"/>
              </a:rPr>
              <a:t>Problème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53128" y="4160520"/>
            <a:ext cx="3255264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141310"/>
                </a:solidFill>
                <a:latin typeface="Arial"/>
              </a:rPr>
              <a:t>L'artisan ne sait plus où en sont ses dossiers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99832" y="3749039"/>
            <a:ext cx="356615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000" b="1">
                <a:solidFill>
                  <a:srgbClr val="E8431F"/>
                </a:solidFill>
                <a:latin typeface="Arial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834640"/>
            <a:ext cx="3474720" cy="2286000"/>
          </a:xfrm>
          <a:prstGeom prst="roundRect">
            <a:avLst>
              <a:gd name="adj" fmla="val 6000"/>
            </a:avLst>
          </a:prstGeom>
          <a:solidFill>
            <a:srgbClr val="1D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2926080"/>
            <a:ext cx="325526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FF8A65"/>
                </a:solidFill>
                <a:latin typeface="Arial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3383280"/>
            <a:ext cx="3255264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Résultat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4160520"/>
            <a:ext cx="3255264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rial"/>
              </a:rPr>
              <a:t>Il voit tout de suite ce qui demande son attention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5F5B52"/>
                </a:solidFill>
                <a:latin typeface="Arial"/>
              </a:rPr>
              <a:t>OCTOBRE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6355080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5F5B52"/>
                </a:solidFill>
                <a:latin typeface="Arial"/>
              </a:rPr>
              <a:t>11/36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635508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1">
                <a:solidFill>
                  <a:srgbClr val="5F5B52"/>
                </a:solidFill>
                <a:latin typeface="Arial"/>
              </a:rPr>
              <a:t>NOÉMIE.K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E4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400" b="1">
                <a:solidFill>
                  <a:srgbClr val="141310"/>
                </a:solidFill>
                <a:latin typeface="Arial"/>
              </a:rPr>
              <a:t>Ton Capital Monétisable Express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9692640" cy="4023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1310"/>
                </a:solidFill>
                <a:latin typeface="Arial"/>
              </a:rPr>
              <a:t>Choisis 3 compétences : je sais faire, ça résout, ça permet.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5F5B52"/>
                </a:solidFill>
                <a:latin typeface="Arial"/>
              </a:rPr>
              <a:t>OCTOBRE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80" y="6355080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5F5B52"/>
                </a:solidFill>
                <a:latin typeface="Arial"/>
              </a:rPr>
              <a:t>12/36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635508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1">
                <a:solidFill>
                  <a:srgbClr val="5F5B52"/>
                </a:solidFill>
                <a:latin typeface="Arial"/>
              </a:rPr>
              <a:t>NOÉMIE.K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E4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800" b="1">
                <a:solidFill>
                  <a:srgbClr val="141310"/>
                </a:solidFill>
                <a:latin typeface="Arial"/>
              </a:rPr>
              <a:t>Étape 2 : à qui peux-tu être utile 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828800"/>
            <a:ext cx="3505200" cy="3566160"/>
          </a:xfrm>
          <a:prstGeom prst="roundRect">
            <a:avLst>
              <a:gd name="adj" fmla="val 6000"/>
            </a:avLst>
          </a:prstGeom>
          <a:solidFill>
            <a:srgbClr val="F4F1EB"/>
          </a:solidFill>
          <a:ln w="12700">
            <a:solidFill>
              <a:srgbClr val="C9C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65960"/>
            <a:ext cx="31394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E8431F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313944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400" b="1">
                <a:solidFill>
                  <a:srgbClr val="141310"/>
                </a:solidFill>
                <a:latin typeface="Arial"/>
              </a:rPr>
              <a:t>Un terrain de départ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37560"/>
            <a:ext cx="3139440" cy="2011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0">
                <a:solidFill>
                  <a:srgbClr val="5F5B52"/>
                </a:solidFill>
                <a:latin typeface="Arial"/>
              </a:rPr>
              <a:t>Les artisans : tu choisis une première population à comprendre, pas une clientèle pour dix ans.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8160" y="1828800"/>
            <a:ext cx="3505200" cy="3566160"/>
          </a:xfrm>
          <a:prstGeom prst="roundRect">
            <a:avLst>
              <a:gd name="adj" fmla="val 6000"/>
            </a:avLst>
          </a:prstGeom>
          <a:solidFill>
            <a:srgbClr val="F4F1EB"/>
          </a:solidFill>
          <a:ln w="12700">
            <a:solidFill>
              <a:srgbClr val="C9C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11040" y="1965960"/>
            <a:ext cx="31394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E8431F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11040" y="2377440"/>
            <a:ext cx="313944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400" b="1">
                <a:solidFill>
                  <a:srgbClr val="141310"/>
                </a:solidFill>
                <a:latin typeface="Arial"/>
              </a:rPr>
              <a:t>Un besoin à vérifier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11040" y="3337560"/>
            <a:ext cx="3139440" cy="2011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0">
                <a:solidFill>
                  <a:srgbClr val="5F5B52"/>
                </a:solidFill>
                <a:latin typeface="Arial"/>
              </a:rPr>
              <a:t>Dossiers qui s'accumulent, devis à suivre, relances oubliées. Ce sont des hypothèses.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7680" y="1828800"/>
            <a:ext cx="3505200" cy="3566160"/>
          </a:xfrm>
          <a:prstGeom prst="roundRect">
            <a:avLst>
              <a:gd name="adj" fmla="val 6000"/>
            </a:avLst>
          </a:prstGeom>
          <a:solidFill>
            <a:srgbClr val="F4F1EB"/>
          </a:solidFill>
          <a:ln w="12700">
            <a:solidFill>
              <a:srgbClr val="C9C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90560" y="1965960"/>
            <a:ext cx="31394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E8431F"/>
                </a:solidFill>
                <a:latin typeface="Arial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0560" y="2377440"/>
            <a:ext cx="313944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400" b="1">
                <a:solidFill>
                  <a:srgbClr val="141310"/>
                </a:solidFill>
                <a:latin typeface="Arial"/>
              </a:rPr>
              <a:t>Le terrain tranchera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0560" y="3337560"/>
            <a:ext cx="3139440" cy="2011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0">
                <a:solidFill>
                  <a:srgbClr val="5F5B52"/>
                </a:solidFill>
                <a:latin typeface="Arial"/>
              </a:rPr>
              <a:t>Il te dira lesquelles comptent vraiment.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5F5B52"/>
                </a:solidFill>
                <a:latin typeface="Arial"/>
              </a:rPr>
              <a:t>OCTOBRE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6355080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5F5B52"/>
                </a:solidFill>
                <a:latin typeface="Arial"/>
              </a:rPr>
              <a:t>13/36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635508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1">
                <a:solidFill>
                  <a:srgbClr val="5F5B52"/>
                </a:solidFill>
                <a:latin typeface="Arial"/>
              </a:rPr>
              <a:t>NOÉMIE.K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E4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400" b="1">
                <a:solidFill>
                  <a:srgbClr val="141310"/>
                </a:solidFill>
                <a:latin typeface="Arial"/>
              </a:rPr>
              <a:t>Ma cible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9692640" cy="4023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1310"/>
                </a:solidFill>
                <a:latin typeface="Arial"/>
              </a:rPr>
              <a:t>Pour commencer, je veux parler à ______. Je pense qu'ils rencontrent souvent : 1, 2, 3. Cible test, pas cible pour la vie.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5F5B52"/>
                </a:solidFill>
                <a:latin typeface="Arial"/>
              </a:rPr>
              <a:t>OCTOBRE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80" y="6355080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5F5B52"/>
                </a:solidFill>
                <a:latin typeface="Arial"/>
              </a:rPr>
              <a:t>14/36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635508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1">
                <a:solidFill>
                  <a:srgbClr val="5F5B52"/>
                </a:solidFill>
                <a:latin typeface="Arial"/>
              </a:rPr>
              <a:t>NOÉMIE.K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E4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400" b="1">
                <a:solidFill>
                  <a:srgbClr val="141310"/>
                </a:solidFill>
                <a:latin typeface="Arial"/>
              </a:rPr>
              <a:t>Étape 3 : trouve ta Bulle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828800"/>
            <a:ext cx="5394960" cy="3566160"/>
          </a:xfrm>
          <a:prstGeom prst="roundRect">
            <a:avLst>
              <a:gd name="adj" fmla="val 6000"/>
            </a:avLst>
          </a:prstGeom>
          <a:solidFill>
            <a:srgbClr val="F4F1EB"/>
          </a:solidFill>
          <a:ln w="12700">
            <a:solidFill>
              <a:srgbClr val="C9C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11680"/>
            <a:ext cx="484632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400" b="1">
                <a:solidFill>
                  <a:srgbClr val="141310"/>
                </a:solidFill>
                <a:latin typeface="Arial"/>
              </a:rPr>
              <a:t>« Restaurant à Paris 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2926080"/>
            <a:ext cx="4846320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1310"/>
                </a:solidFill>
                <a:latin typeface="Arial"/>
              </a:rPr>
              <a:t>– Une catégorie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1310"/>
                </a:solidFill>
                <a:latin typeface="Arial"/>
              </a:rPr>
              <a:t>– Des milliers de concurrents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1310"/>
                </a:solidFill>
                <a:latin typeface="Arial"/>
              </a:rPr>
              <a:t>– Aucune raison de venir chez toi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394960" cy="3566160"/>
          </a:xfrm>
          <a:prstGeom prst="roundRect">
            <a:avLst>
              <a:gd name="adj" fmla="val 6000"/>
            </a:avLst>
          </a:prstGeom>
          <a:solidFill>
            <a:srgbClr val="1D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011680"/>
            <a:ext cx="484632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« Reconnu pour quelque chose 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926080"/>
            <a:ext cx="4846320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– Une raison de penser à toi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– Un client qui te recommande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– Un positionnement identifiable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5F5B52"/>
                </a:solidFill>
                <a:latin typeface="Arial"/>
              </a:rPr>
              <a:t>OCTOBRE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6355080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5F5B52"/>
                </a:solidFill>
                <a:latin typeface="Arial"/>
              </a:rPr>
              <a:t>15/36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635508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1">
                <a:solidFill>
                  <a:srgbClr val="5F5B52"/>
                </a:solidFill>
                <a:latin typeface="Arial"/>
              </a:rPr>
              <a:t>NOÉMIE.K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E4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800" b="1">
                <a:solidFill>
                  <a:srgbClr val="141310"/>
                </a:solidFill>
                <a:latin typeface="Arial"/>
              </a:rPr>
              <a:t>Appelle-la. Elle est vraiment forte pour ______.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9692640" cy="4023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1310"/>
                </a:solidFill>
                <a:latin typeface="Arial"/>
              </a:rPr>
              <a:t>Si un artisan parle de toi à un autre artisan, que veux-tu qu'il dise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5F5B52"/>
                </a:solidFill>
                <a:latin typeface="Arial"/>
              </a:rPr>
              <a:t>OCTOBRE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80" y="6355080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5F5B52"/>
                </a:solidFill>
                <a:latin typeface="Arial"/>
              </a:rPr>
              <a:t>16/36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635508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1">
                <a:solidFill>
                  <a:srgbClr val="5F5B52"/>
                </a:solidFill>
                <a:latin typeface="Arial"/>
              </a:rPr>
              <a:t>NOÉMIE.K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E4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400" b="1">
                <a:solidFill>
                  <a:srgbClr val="141310"/>
                </a:solidFill>
                <a:latin typeface="Arial"/>
              </a:rPr>
              <a:t>Crée 3 Bulles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9692640" cy="4023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1310"/>
                </a:solidFill>
                <a:latin typeface="Arial"/>
              </a:rPr>
              <a:t>Je veux devenir l'assistante qu'on appelle quand ______. Écris trois versions : A, B et 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5F5B52"/>
                </a:solidFill>
                <a:latin typeface="Arial"/>
              </a:rPr>
              <a:t>OCTOBRE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80" y="6355080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5F5B52"/>
                </a:solidFill>
                <a:latin typeface="Arial"/>
              </a:rPr>
              <a:t>17/36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635508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1">
                <a:solidFill>
                  <a:srgbClr val="5F5B52"/>
                </a:solidFill>
                <a:latin typeface="Arial"/>
              </a:rPr>
              <a:t>NOÉMIE.K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E4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400" b="1">
                <a:solidFill>
                  <a:srgbClr val="141310"/>
                </a:solidFill>
                <a:latin typeface="Arial"/>
              </a:rPr>
              <a:t>Le filtre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9692640" cy="4023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1310"/>
                </a:solidFill>
                <a:latin typeface="Arial"/>
              </a:rPr>
              <a:t>Je maîtrise réellement ce sujet ? Le problème est concret ? Le résultat est compréhensible ? J'ai envie d'être connue pour ça ? Ma Bulle V0.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5F5B52"/>
                </a:solidFill>
                <a:latin typeface="Arial"/>
              </a:rPr>
              <a:t>OCTOBRE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80" y="6355080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5F5B52"/>
                </a:solidFill>
                <a:latin typeface="Arial"/>
              </a:rPr>
              <a:t>18/36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635508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1">
                <a:solidFill>
                  <a:srgbClr val="5F5B52"/>
                </a:solidFill>
                <a:latin typeface="Arial"/>
              </a:rPr>
              <a:t>NOÉMIE.K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E4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400" b="1">
                <a:solidFill>
                  <a:srgbClr val="141310"/>
                </a:solidFill>
                <a:latin typeface="Arial"/>
              </a:rPr>
              <a:t>Bulle Hot Seat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9692640" cy="4023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1310"/>
                </a:solidFill>
                <a:latin typeface="Arial"/>
              </a:rPr>
              <a:t>30 secondes chacune : « Je veux devenir l'assistante qu'on appelle quand… » Suffisamment clair pour tester, pas parfait.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5F5B52"/>
                </a:solidFill>
                <a:latin typeface="Arial"/>
              </a:rPr>
              <a:t>OCTOBRE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80" y="6355080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5F5B52"/>
                </a:solidFill>
                <a:latin typeface="Arial"/>
              </a:rPr>
              <a:t>19/36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635508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1">
                <a:solidFill>
                  <a:srgbClr val="5F5B52"/>
                </a:solidFill>
                <a:latin typeface="Arial"/>
              </a:rPr>
              <a:t>NOÉMIE.K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E4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800" b="1">
                <a:solidFill>
                  <a:srgbClr val="141310"/>
                </a:solidFill>
                <a:latin typeface="Arial"/>
              </a:rPr>
              <a:t>Étape 4 : ta Bulle n'est pas ton offre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828800"/>
            <a:ext cx="5394959" cy="3566160"/>
          </a:xfrm>
          <a:prstGeom prst="roundRect">
            <a:avLst>
              <a:gd name="adj" fmla="val 6000"/>
            </a:avLst>
          </a:prstGeom>
          <a:solidFill>
            <a:srgbClr val="F4F1EB"/>
          </a:solidFill>
          <a:ln w="12700">
            <a:solidFill>
              <a:srgbClr val="C9C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65960"/>
            <a:ext cx="5029199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E8431F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5029199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400" b="1">
                <a:solidFill>
                  <a:srgbClr val="141310"/>
                </a:solidFill>
                <a:latin typeface="Arial"/>
              </a:rPr>
              <a:t>La Bulle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37560"/>
            <a:ext cx="5029199" cy="2011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0">
                <a:solidFill>
                  <a:srgbClr val="5F5B52"/>
                </a:solidFill>
                <a:latin typeface="Arial"/>
              </a:rPr>
              <a:t>Pourquoi on pense à toi.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19" y="1828800"/>
            <a:ext cx="5394959" cy="3566160"/>
          </a:xfrm>
          <a:prstGeom prst="roundRect">
            <a:avLst>
              <a:gd name="adj" fmla="val 6000"/>
            </a:avLst>
          </a:prstGeom>
          <a:solidFill>
            <a:srgbClr val="F4F1EB"/>
          </a:solidFill>
          <a:ln w="12700">
            <a:solidFill>
              <a:srgbClr val="C9C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799" y="1965960"/>
            <a:ext cx="5029199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E8431F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799" y="2377440"/>
            <a:ext cx="5029199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400" b="1">
                <a:solidFill>
                  <a:srgbClr val="141310"/>
                </a:solidFill>
                <a:latin typeface="Arial"/>
              </a:rPr>
              <a:t>L'offre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799" y="3337560"/>
            <a:ext cx="5029199" cy="2011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0">
                <a:solidFill>
                  <a:srgbClr val="5F5B52"/>
                </a:solidFill>
                <a:latin typeface="Arial"/>
              </a:rPr>
              <a:t>Ce qu'on peut acheter chez toi.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5F5B52"/>
                </a:solidFill>
                <a:latin typeface="Arial"/>
              </a:rPr>
              <a:t>OCTOBRE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6355080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5F5B52"/>
                </a:solidFill>
                <a:latin typeface="Arial"/>
              </a:rPr>
              <a:t>20/36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635508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1">
                <a:solidFill>
                  <a:srgbClr val="5F5B52"/>
                </a:solidFill>
                <a:latin typeface="Arial"/>
              </a:rPr>
              <a:t>NOÉMIE.K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E4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400" b="1">
                <a:solidFill>
                  <a:srgbClr val="141310"/>
                </a:solidFill>
                <a:latin typeface="Arial"/>
              </a:rPr>
              <a:t>La structure de ton offre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000" b="0">
                <a:solidFill>
                  <a:srgbClr val="5F5B52"/>
                </a:solidFill>
                <a:latin typeface="Arial"/>
              </a:rPr>
              <a:t>Au lieu de « je peux tout faire » : un problème, un périmètre, un résultat.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834640"/>
            <a:ext cx="2526030" cy="2286000"/>
          </a:xfrm>
          <a:prstGeom prst="roundRect">
            <a:avLst>
              <a:gd name="adj" fmla="val 6000"/>
            </a:avLst>
          </a:prstGeom>
          <a:solidFill>
            <a:srgbClr val="1D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926080"/>
            <a:ext cx="230657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FF8A65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383280"/>
            <a:ext cx="2306574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Diagnostic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160520"/>
            <a:ext cx="2306574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rial"/>
              </a:rPr>
              <a:t>Je regarde le fonctionnement actuel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56382" y="3749039"/>
            <a:ext cx="356615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000" b="1">
                <a:solidFill>
                  <a:srgbClr val="E8431F"/>
                </a:solidFill>
                <a:latin typeface="Arial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4710" y="2834640"/>
            <a:ext cx="2526030" cy="2286000"/>
          </a:xfrm>
          <a:prstGeom prst="roundRect">
            <a:avLst>
              <a:gd name="adj" fmla="val 6000"/>
            </a:avLst>
          </a:prstGeom>
          <a:solidFill>
            <a:srgbClr val="F4F1EB"/>
          </a:solidFill>
          <a:ln w="12700">
            <a:solidFill>
              <a:srgbClr val="C9C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04438" y="2926080"/>
            <a:ext cx="230657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E8431F"/>
                </a:solidFill>
                <a:latin typeface="Arial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4438" y="3383280"/>
            <a:ext cx="2306574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1">
                <a:solidFill>
                  <a:srgbClr val="141310"/>
                </a:solidFill>
                <a:latin typeface="Arial"/>
              </a:rPr>
              <a:t>Priorisation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4438" y="4160520"/>
            <a:ext cx="2306574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141310"/>
                </a:solidFill>
                <a:latin typeface="Arial"/>
              </a:rPr>
              <a:t>J'identifie les frictions prioritaires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02452" y="3749039"/>
            <a:ext cx="356615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000" b="1">
                <a:solidFill>
                  <a:srgbClr val="E8431F"/>
                </a:solidFill>
                <a:latin typeface="Arial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0780" y="2834640"/>
            <a:ext cx="2526030" cy="2286000"/>
          </a:xfrm>
          <a:prstGeom prst="roundRect">
            <a:avLst>
              <a:gd name="adj" fmla="val 6000"/>
            </a:avLst>
          </a:prstGeom>
          <a:solidFill>
            <a:srgbClr val="1D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0508" y="2926080"/>
            <a:ext cx="230657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FF8A65"/>
                </a:solidFill>
                <a:latin typeface="Arial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0508" y="3383280"/>
            <a:ext cx="2306574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0508" y="4160520"/>
            <a:ext cx="2306574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rial"/>
              </a:rPr>
              <a:t>J'interviens de façon ciblée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48522" y="3749039"/>
            <a:ext cx="356615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000" b="1">
                <a:solidFill>
                  <a:srgbClr val="E8431F"/>
                </a:solidFill>
                <a:latin typeface="Arial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86850" y="2834640"/>
            <a:ext cx="2526030" cy="2286000"/>
          </a:xfrm>
          <a:prstGeom prst="roundRect">
            <a:avLst>
              <a:gd name="adj" fmla="val 6000"/>
            </a:avLst>
          </a:prstGeom>
          <a:solidFill>
            <a:srgbClr val="F4F1EB"/>
          </a:solidFill>
          <a:ln w="12700">
            <a:solidFill>
              <a:srgbClr val="C9C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96578" y="2926080"/>
            <a:ext cx="230657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E8431F"/>
                </a:solidFill>
                <a:latin typeface="Arial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96578" y="3383280"/>
            <a:ext cx="2306574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1">
                <a:solidFill>
                  <a:srgbClr val="141310"/>
                </a:solidFill>
                <a:latin typeface="Arial"/>
              </a:rPr>
              <a:t>Contrôle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96578" y="4160520"/>
            <a:ext cx="2306574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141310"/>
                </a:solidFill>
                <a:latin typeface="Arial"/>
              </a:rPr>
              <a:t>Nous vérifions le résultat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5F5B52"/>
                </a:solidFill>
                <a:latin typeface="Arial"/>
              </a:rPr>
              <a:t>OCTOBRE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6355080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5F5B52"/>
                </a:solidFill>
                <a:latin typeface="Arial"/>
              </a:rPr>
              <a:t>21/36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635508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1">
                <a:solidFill>
                  <a:srgbClr val="5F5B52"/>
                </a:solidFill>
                <a:latin typeface="Arial"/>
              </a:rPr>
              <a:t>NOÉMIE.K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E4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400" b="1">
                <a:solidFill>
                  <a:srgbClr val="141310"/>
                </a:solidFill>
                <a:latin typeface="Arial"/>
              </a:rPr>
              <a:t>Mon offre V0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9692640" cy="4023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1310"/>
                </a:solidFill>
                <a:latin typeface="Arial"/>
              </a:rPr>
              <a:t>J'aide ______ qui rencontre ______ à obtenir ______. Diagnostic, priorisation, action, contrôle. Ce qui n'est pas inclus : ______.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5F5B52"/>
                </a:solidFill>
                <a:latin typeface="Arial"/>
              </a:rPr>
              <a:t>OCTOBRE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80" y="6355080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5F5B52"/>
                </a:solidFill>
                <a:latin typeface="Arial"/>
              </a:rPr>
              <a:t>22/36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635508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1">
                <a:solidFill>
                  <a:srgbClr val="5F5B52"/>
                </a:solidFill>
                <a:latin typeface="Arial"/>
              </a:rPr>
              <a:t>NOÉMIE.K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E4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400" b="1">
                <a:solidFill>
                  <a:srgbClr val="141310"/>
                </a:solidFill>
                <a:latin typeface="Arial"/>
              </a:rPr>
              <a:t>Et le prix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9692640" cy="4023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1310"/>
                </a:solidFill>
                <a:latin typeface="Arial"/>
              </a:rPr>
              <a:t>Pas au hasard. Pas parce qu'une autre facture X €. Pas parce que ton salaire horaire est X €. Temps, périmètre, objectif, marché, terrain.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5F5B52"/>
                </a:solidFill>
                <a:latin typeface="Arial"/>
              </a:rPr>
              <a:t>OCTOBRE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80" y="6355080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5F5B52"/>
                </a:solidFill>
                <a:latin typeface="Arial"/>
              </a:rPr>
              <a:t>23/36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635508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1">
                <a:solidFill>
                  <a:srgbClr val="5F5B52"/>
                </a:solidFill>
                <a:latin typeface="Arial"/>
              </a:rPr>
              <a:t>NOÉMIE.K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E4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400" b="1">
                <a:solidFill>
                  <a:srgbClr val="141310"/>
                </a:solidFill>
                <a:latin typeface="Arial"/>
              </a:rPr>
              <a:t>Tes 3 prochaines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9692640" cy="4023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1310"/>
                </a:solidFill>
                <a:latin typeface="Arial"/>
              </a:rPr>
              <a:t>1. Vérifie ce que tu dois vérifier. 2. Parle à tes 3 premières personnes. 3. Teste ton hypothèse prioritaire. Avant quelle date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5F5B52"/>
                </a:solidFill>
                <a:latin typeface="Arial"/>
              </a:rPr>
              <a:t>OCTOBRE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80" y="6355080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5F5B52"/>
                </a:solidFill>
                <a:latin typeface="Arial"/>
              </a:rPr>
              <a:t>24/36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635508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1">
                <a:solidFill>
                  <a:srgbClr val="5F5B52"/>
                </a:solidFill>
                <a:latin typeface="Arial"/>
              </a:rPr>
              <a:t>NOÉMIE.K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E4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400" b="1">
                <a:solidFill>
                  <a:srgbClr val="141310"/>
                </a:solidFill>
                <a:latin typeface="Arial"/>
              </a:rPr>
              <a:t>Regarde ce que tu as maintenant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9692640" cy="4023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1310"/>
                </a:solidFill>
                <a:latin typeface="Arial"/>
              </a:rPr>
              <a:t>Ma cible, ma Bulle, mon offre V0, ma prochaine action. Est-ce plus concret qu'il y a 2 heures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5F5B52"/>
                </a:solidFill>
                <a:latin typeface="Arial"/>
              </a:rPr>
              <a:t>OCTOBRE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80" y="6355080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5F5B52"/>
                </a:solidFill>
                <a:latin typeface="Arial"/>
              </a:rPr>
              <a:t>25/36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635508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1">
                <a:solidFill>
                  <a:srgbClr val="5F5B52"/>
                </a:solidFill>
                <a:latin typeface="Arial"/>
              </a:rPr>
              <a:t>NOÉMIE.K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E4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800" b="1">
                <a:solidFill>
                  <a:srgbClr val="141310"/>
                </a:solidFill>
                <a:latin typeface="Arial"/>
              </a:rPr>
              <a:t>Qu'est-ce qui pourrait te freiner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9692640" cy="4023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1310"/>
                </a:solidFill>
                <a:latin typeface="Arial"/>
              </a:rPr>
              <a:t>Le temps · Ce que je vaux · Serai-je capable ? · Mon employeur · Oser vendre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5F5B52"/>
                </a:solidFill>
                <a:latin typeface="Arial"/>
              </a:rPr>
              <a:t>OCTOBRE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80" y="6355080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5F5B52"/>
                </a:solidFill>
                <a:latin typeface="Arial"/>
              </a:rPr>
              <a:t>26/36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635508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1">
                <a:solidFill>
                  <a:srgbClr val="5F5B52"/>
                </a:solidFill>
                <a:latin typeface="Arial"/>
              </a:rPr>
              <a:t>NOÉMIE.K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E4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400" b="1">
                <a:solidFill>
                  <a:srgbClr val="141310"/>
                </a:solidFill>
                <a:latin typeface="Arial"/>
              </a:rPr>
              <a:t>Deux chemins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828800"/>
            <a:ext cx="5394959" cy="3566160"/>
          </a:xfrm>
          <a:prstGeom prst="roundRect">
            <a:avLst>
              <a:gd name="adj" fmla="val 6000"/>
            </a:avLst>
          </a:prstGeom>
          <a:solidFill>
            <a:srgbClr val="F4F1EB"/>
          </a:solidFill>
          <a:ln w="12700">
            <a:solidFill>
              <a:srgbClr val="C9C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65960"/>
            <a:ext cx="5029199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E8431F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5029199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400" b="1">
                <a:solidFill>
                  <a:srgbClr val="141310"/>
                </a:solidFill>
                <a:latin typeface="Arial"/>
              </a:rPr>
              <a:t>1. Je continue seule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37560"/>
            <a:ext cx="5029199" cy="2011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0">
                <a:solidFill>
                  <a:srgbClr val="5F5B52"/>
                </a:solidFill>
                <a:latin typeface="Arial"/>
              </a:rPr>
              <a:t>J'ai mon plan. Je recherche, je construis, je teste, j'ajuste.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19" y="1828800"/>
            <a:ext cx="5394959" cy="3566160"/>
          </a:xfrm>
          <a:prstGeom prst="roundRect">
            <a:avLst>
              <a:gd name="adj" fmla="val 6000"/>
            </a:avLst>
          </a:prstGeom>
          <a:solidFill>
            <a:srgbClr val="F4F1EB"/>
          </a:solidFill>
          <a:ln w="12700">
            <a:solidFill>
              <a:srgbClr val="C9C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799" y="1965960"/>
            <a:ext cx="5029199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E8431F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799" y="2377440"/>
            <a:ext cx="5029199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400" b="1">
                <a:solidFill>
                  <a:srgbClr val="141310"/>
                </a:solidFill>
                <a:latin typeface="Arial"/>
              </a:rPr>
              <a:t>2. Je le construis avec un cadre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799" y="3337560"/>
            <a:ext cx="5029199" cy="2011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0">
                <a:solidFill>
                  <a:srgbClr val="5F5B52"/>
                </a:solidFill>
                <a:latin typeface="Arial"/>
              </a:rPr>
              <a:t>Reprise de Contrôle : 30 jours d'accompagnement collectif.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5F5B52"/>
                </a:solidFill>
                <a:latin typeface="Arial"/>
              </a:rPr>
              <a:t>OCTOBRE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6355080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5F5B52"/>
                </a:solidFill>
                <a:latin typeface="Arial"/>
              </a:rPr>
              <a:t>27/36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635508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1">
                <a:solidFill>
                  <a:srgbClr val="5F5B52"/>
                </a:solidFill>
                <a:latin typeface="Arial"/>
              </a:rPr>
              <a:t>NOÉMIE.K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E4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400" b="1">
                <a:solidFill>
                  <a:srgbClr val="141310"/>
                </a:solidFill>
                <a:latin typeface="Arial"/>
              </a:rPr>
              <a:t>Reprise de Contrôle en 30 jours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000" b="0">
                <a:solidFill>
                  <a:srgbClr val="5F5B52"/>
                </a:solidFill>
                <a:latin typeface="Arial"/>
              </a:rPr>
              <a:t>Six étapes pour passer de l'idée à une offre confrontée au terrain.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834640"/>
            <a:ext cx="1577339" cy="2286000"/>
          </a:xfrm>
          <a:prstGeom prst="roundRect">
            <a:avLst>
              <a:gd name="adj" fmla="val 6000"/>
            </a:avLst>
          </a:prstGeom>
          <a:solidFill>
            <a:srgbClr val="1D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926080"/>
            <a:ext cx="135788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FF8A65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383280"/>
            <a:ext cx="1357884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Sécurise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160520"/>
            <a:ext cx="1357884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rial"/>
              </a:rPr>
              <a:t>Vérifier ton terrain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7691" y="3749039"/>
            <a:ext cx="356615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000" b="1">
                <a:solidFill>
                  <a:srgbClr val="E8431F"/>
                </a:solidFill>
                <a:latin typeface="Arial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46020" y="2834640"/>
            <a:ext cx="1577339" cy="2286000"/>
          </a:xfrm>
          <a:prstGeom prst="roundRect">
            <a:avLst>
              <a:gd name="adj" fmla="val 6000"/>
            </a:avLst>
          </a:prstGeom>
          <a:solidFill>
            <a:srgbClr val="F4F1EB"/>
          </a:solidFill>
          <a:ln w="12700">
            <a:solidFill>
              <a:srgbClr val="C9C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55748" y="2926080"/>
            <a:ext cx="135788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E8431F"/>
                </a:solidFill>
                <a:latin typeface="Arial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55748" y="3383280"/>
            <a:ext cx="1357884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900" b="1">
                <a:solidFill>
                  <a:srgbClr val="141310"/>
                </a:solidFill>
                <a:latin typeface="Arial"/>
              </a:rPr>
              <a:t>Monétise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55748" y="4160520"/>
            <a:ext cx="1357884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141310"/>
                </a:solidFill>
                <a:latin typeface="Arial"/>
              </a:rPr>
              <a:t>Découvrir ta valeur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05072" y="3749039"/>
            <a:ext cx="356615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000" b="1">
                <a:solidFill>
                  <a:srgbClr val="E8431F"/>
                </a:solidFill>
                <a:latin typeface="Arial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399" y="2834640"/>
            <a:ext cx="1577339" cy="2286000"/>
          </a:xfrm>
          <a:prstGeom prst="roundRect">
            <a:avLst>
              <a:gd name="adj" fmla="val 6000"/>
            </a:avLst>
          </a:prstGeom>
          <a:solidFill>
            <a:srgbClr val="1D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3127" y="2926080"/>
            <a:ext cx="135788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FF8A65"/>
                </a:solidFill>
                <a:latin typeface="Arial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3127" y="3383280"/>
            <a:ext cx="1357884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Trouve ta Bulle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3127" y="4160520"/>
            <a:ext cx="1357884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rial"/>
              </a:rPr>
              <a:t>Devenir identifiable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2451" y="3749039"/>
            <a:ext cx="356615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000" b="1">
                <a:solidFill>
                  <a:srgbClr val="E8431F"/>
                </a:solidFill>
                <a:latin typeface="Arial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79" y="2834640"/>
            <a:ext cx="1577339" cy="2286000"/>
          </a:xfrm>
          <a:prstGeom prst="roundRect">
            <a:avLst>
              <a:gd name="adj" fmla="val 6000"/>
            </a:avLst>
          </a:prstGeom>
          <a:solidFill>
            <a:srgbClr val="F4F1EB"/>
          </a:solidFill>
          <a:ln w="12700">
            <a:solidFill>
              <a:srgbClr val="C9C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0507" y="2926080"/>
            <a:ext cx="135788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E8431F"/>
                </a:solidFill>
                <a:latin typeface="Arial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507" y="3383280"/>
            <a:ext cx="1357884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900" b="1">
                <a:solidFill>
                  <a:srgbClr val="141310"/>
                </a:solidFill>
                <a:latin typeface="Arial"/>
              </a:rPr>
              <a:t>Package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0507" y="4160520"/>
            <a:ext cx="1357884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141310"/>
                </a:solidFill>
                <a:latin typeface="Arial"/>
              </a:rPr>
              <a:t>Construire ton offre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99831" y="3749039"/>
            <a:ext cx="356615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000" b="1">
                <a:solidFill>
                  <a:srgbClr val="E8431F"/>
                </a:solidFill>
                <a:latin typeface="Arial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59" y="2834640"/>
            <a:ext cx="1577339" cy="2286000"/>
          </a:xfrm>
          <a:prstGeom prst="roundRect">
            <a:avLst>
              <a:gd name="adj" fmla="val 6000"/>
            </a:avLst>
          </a:prstGeom>
          <a:solidFill>
            <a:srgbClr val="1D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7887" y="2926080"/>
            <a:ext cx="135788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FF8A65"/>
                </a:solidFill>
                <a:latin typeface="Arial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7887" y="3383280"/>
            <a:ext cx="1357884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Teste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47887" y="4160520"/>
            <a:ext cx="1357884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rial"/>
              </a:rPr>
              <a:t>Parler à de vrais artisans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7211" y="3749039"/>
            <a:ext cx="356615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000" b="1">
                <a:solidFill>
                  <a:srgbClr val="E8431F"/>
                </a:solidFill>
                <a:latin typeface="Arial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35539" y="2834640"/>
            <a:ext cx="1577339" cy="2286000"/>
          </a:xfrm>
          <a:prstGeom prst="roundRect">
            <a:avLst>
              <a:gd name="adj" fmla="val 6000"/>
            </a:avLst>
          </a:prstGeom>
          <a:solidFill>
            <a:srgbClr val="F4F1EB"/>
          </a:solidFill>
          <a:ln w="12700">
            <a:solidFill>
              <a:srgbClr val="C9C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5267" y="2926080"/>
            <a:ext cx="135788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E8431F"/>
                </a:solidFill>
                <a:latin typeface="Arial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45267" y="3383280"/>
            <a:ext cx="1357884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900" b="1">
                <a:solidFill>
                  <a:srgbClr val="141310"/>
                </a:solidFill>
                <a:latin typeface="Arial"/>
              </a:rPr>
              <a:t>Décide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45267" y="4160520"/>
            <a:ext cx="1357884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141310"/>
                </a:solidFill>
                <a:latin typeface="Arial"/>
              </a:rPr>
              <a:t>Choisir la suite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5F5B52"/>
                </a:solidFill>
                <a:latin typeface="Arial"/>
              </a:rPr>
              <a:t>OCTOBRE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80" y="6355080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5F5B52"/>
                </a:solidFill>
                <a:latin typeface="Arial"/>
              </a:rPr>
              <a:t>28/36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635508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1">
                <a:solidFill>
                  <a:srgbClr val="5F5B52"/>
                </a:solidFill>
                <a:latin typeface="Arial"/>
              </a:rPr>
              <a:t>NOÉMIE.K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E4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400" b="1">
                <a:solidFill>
                  <a:srgbClr val="141310"/>
                </a:solidFill>
                <a:latin typeface="Arial"/>
              </a:rPr>
              <a:t>Tes 5 preuves à J30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828800"/>
            <a:ext cx="3505200" cy="3566160"/>
          </a:xfrm>
          <a:prstGeom prst="roundRect">
            <a:avLst>
              <a:gd name="adj" fmla="val 6000"/>
            </a:avLst>
          </a:prstGeom>
          <a:solidFill>
            <a:srgbClr val="F4F1EB"/>
          </a:solidFill>
          <a:ln w="12700">
            <a:solidFill>
              <a:srgbClr val="C9C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65960"/>
            <a:ext cx="31394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E8431F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313944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400" b="1">
                <a:solidFill>
                  <a:srgbClr val="141310"/>
                </a:solidFill>
                <a:latin typeface="Arial"/>
              </a:rPr>
              <a:t>Mon feu vert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37560"/>
            <a:ext cx="3139440" cy="2011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0">
                <a:solidFill>
                  <a:srgbClr val="5F5B52"/>
                </a:solidFill>
                <a:latin typeface="Arial"/>
              </a:rPr>
              <a:t>Ce que je peux préparer, ce que je dois vérifier.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8160" y="1828800"/>
            <a:ext cx="3505200" cy="3566160"/>
          </a:xfrm>
          <a:prstGeom prst="roundRect">
            <a:avLst>
              <a:gd name="adj" fmla="val 6000"/>
            </a:avLst>
          </a:prstGeom>
          <a:solidFill>
            <a:srgbClr val="F4F1EB"/>
          </a:solidFill>
          <a:ln w="12700">
            <a:solidFill>
              <a:srgbClr val="C9C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11040" y="1965960"/>
            <a:ext cx="31394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E8431F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11040" y="2377440"/>
            <a:ext cx="313944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400" b="1">
                <a:solidFill>
                  <a:srgbClr val="141310"/>
                </a:solidFill>
                <a:latin typeface="Arial"/>
              </a:rPr>
              <a:t>Ma valeur et mon Pack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11040" y="3337560"/>
            <a:ext cx="3139440" cy="2011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0">
                <a:solidFill>
                  <a:srgbClr val="5F5B52"/>
                </a:solidFill>
                <a:latin typeface="Arial"/>
              </a:rPr>
              <a:t>Ce que je peux monétiser, et mon offre claire.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7680" y="1828800"/>
            <a:ext cx="3505200" cy="3566160"/>
          </a:xfrm>
          <a:prstGeom prst="roundRect">
            <a:avLst>
              <a:gd name="adj" fmla="val 6000"/>
            </a:avLst>
          </a:prstGeom>
          <a:solidFill>
            <a:srgbClr val="F4F1EB"/>
          </a:solidFill>
          <a:ln w="12700">
            <a:solidFill>
              <a:srgbClr val="C9C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90560" y="1965960"/>
            <a:ext cx="31394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E8431F"/>
                </a:solidFill>
                <a:latin typeface="Arial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0560" y="2377440"/>
            <a:ext cx="313944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400" b="1">
                <a:solidFill>
                  <a:srgbClr val="141310"/>
                </a:solidFill>
                <a:latin typeface="Arial"/>
              </a:rPr>
              <a:t>Mon rapport terrain et mon Plan 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0560" y="3337560"/>
            <a:ext cx="3139440" cy="2011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0">
                <a:solidFill>
                  <a:srgbClr val="5F5B52"/>
                </a:solidFill>
                <a:latin typeface="Arial"/>
              </a:rPr>
              <a:t>Ce que le terrain m'a répondu, et ma suite.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5F5B52"/>
                </a:solidFill>
                <a:latin typeface="Arial"/>
              </a:rPr>
              <a:t>OCTOBRE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6355080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5F5B52"/>
                </a:solidFill>
                <a:latin typeface="Arial"/>
              </a:rPr>
              <a:t>29/36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635508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1">
                <a:solidFill>
                  <a:srgbClr val="5F5B52"/>
                </a:solidFill>
                <a:latin typeface="Arial"/>
              </a:rPr>
              <a:t>NOÉMIE.K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E4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400" b="1">
                <a:solidFill>
                  <a:srgbClr val="141310"/>
                </a:solidFill>
                <a:latin typeface="Arial"/>
              </a:rPr>
              <a:t>Tu n'es pas seule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9692640" cy="4023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1310"/>
                </a:solidFill>
                <a:latin typeface="Arial"/>
              </a:rPr>
              <a:t>4 Clinics collectives, Cockpit, COPILOTE, Calculateur de Viabilité, Observatoire des Prix, Kit Commercial Artisan, Boîte à Conversations, Plan 90.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5F5B52"/>
                </a:solidFill>
                <a:latin typeface="Arial"/>
              </a:rPr>
              <a:t>OCTOBRE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80" y="6355080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5F5B52"/>
                </a:solidFill>
                <a:latin typeface="Arial"/>
              </a:rPr>
              <a:t>30/36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635508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1">
                <a:solidFill>
                  <a:srgbClr val="5F5B52"/>
                </a:solidFill>
                <a:latin typeface="Arial"/>
              </a:rPr>
              <a:t>NOÉMIE.K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E4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400" b="1">
                <a:solidFill>
                  <a:srgbClr val="141310"/>
                </a:solidFill>
                <a:latin typeface="Arial"/>
              </a:rPr>
              <a:t>L'investissement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828800"/>
            <a:ext cx="5394959" cy="3566160"/>
          </a:xfrm>
          <a:prstGeom prst="roundRect">
            <a:avLst>
              <a:gd name="adj" fmla="val 6000"/>
            </a:avLst>
          </a:prstGeom>
          <a:solidFill>
            <a:srgbClr val="F4F1EB"/>
          </a:solidFill>
          <a:ln w="12700">
            <a:solidFill>
              <a:srgbClr val="C9C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65960"/>
            <a:ext cx="5029199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E8431F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5029199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400" b="1">
                <a:solidFill>
                  <a:srgbClr val="141310"/>
                </a:solidFill>
                <a:latin typeface="Arial"/>
              </a:rPr>
              <a:t>Reprise de Contrôle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37560"/>
            <a:ext cx="5029199" cy="2011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0">
                <a:solidFill>
                  <a:srgbClr val="5F5B52"/>
                </a:solidFill>
                <a:latin typeface="Arial"/>
              </a:rPr>
              <a:t>597 €. Paiement en 3 fois possible.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19" y="1828800"/>
            <a:ext cx="5394959" cy="3566160"/>
          </a:xfrm>
          <a:prstGeom prst="roundRect">
            <a:avLst>
              <a:gd name="adj" fmla="val 6000"/>
            </a:avLst>
          </a:prstGeom>
          <a:solidFill>
            <a:srgbClr val="F4F1EB"/>
          </a:solidFill>
          <a:ln w="12700">
            <a:solidFill>
              <a:srgbClr val="C9C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799" y="1965960"/>
            <a:ext cx="5029199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E8431F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799" y="2377440"/>
            <a:ext cx="5029199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400" b="1">
                <a:solidFill>
                  <a:srgbClr val="141310"/>
                </a:solidFill>
                <a:latin typeface="Arial"/>
              </a:rPr>
              <a:t>Cohorte fondatrice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799" y="3337560"/>
            <a:ext cx="5029199" cy="2011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0">
                <a:solidFill>
                  <a:srgbClr val="5F5B52"/>
                </a:solidFill>
                <a:latin typeface="Arial"/>
              </a:rPr>
              <a:t>297 €. Paiement en 2 fois possible. 5 participantes maximum.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5F5B52"/>
                </a:solidFill>
                <a:latin typeface="Arial"/>
              </a:rPr>
              <a:t>OCTOBRE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6355080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5F5B52"/>
                </a:solidFill>
                <a:latin typeface="Arial"/>
              </a:rPr>
              <a:t>31/36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635508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1">
                <a:solidFill>
                  <a:srgbClr val="5F5B52"/>
                </a:solidFill>
                <a:latin typeface="Arial"/>
              </a:rPr>
              <a:t>NOÉMIE.K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E4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400" b="1">
                <a:solidFill>
                  <a:srgbClr val="141310"/>
                </a:solidFill>
                <a:latin typeface="Arial"/>
              </a:rPr>
              <a:t>Vous êtes les premières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9692640" cy="4023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1310"/>
                </a:solidFill>
                <a:latin typeface="Arial"/>
              </a:rPr>
              <a:t>Cette édition a quelque chose que les suivantes n'auront jamais : vous êtes la cohorte fondatrice. Programme complet, pas une version réduite.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5F5B52"/>
                </a:solidFill>
                <a:latin typeface="Arial"/>
              </a:rPr>
              <a:t>OCTOBRE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80" y="6355080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5F5B52"/>
                </a:solidFill>
                <a:latin typeface="Arial"/>
              </a:rPr>
              <a:t>32/36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635508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1">
                <a:solidFill>
                  <a:srgbClr val="5F5B52"/>
                </a:solidFill>
                <a:latin typeface="Arial"/>
              </a:rPr>
              <a:t>NOÉMIE.K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E4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400" b="1">
                <a:solidFill>
                  <a:srgbClr val="141310"/>
                </a:solidFill>
                <a:latin typeface="Arial"/>
              </a:rPr>
              <a:t>Ce que je te demande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9692640" cy="4023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1310"/>
                </a:solidFill>
                <a:latin typeface="Arial"/>
              </a:rPr>
              <a:t>Participer réellement. Faire les exercices. Tester quand ta situation le permet. Me faire un retour sincère. Un témoignage, si tu le souhaites, sera demandé séparément.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5F5B52"/>
                </a:solidFill>
                <a:latin typeface="Arial"/>
              </a:rPr>
              <a:t>OCTOBRE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80" y="6355080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5F5B52"/>
                </a:solidFill>
                <a:latin typeface="Arial"/>
              </a:rPr>
              <a:t>33/36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635508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1">
                <a:solidFill>
                  <a:srgbClr val="5F5B52"/>
                </a:solidFill>
                <a:latin typeface="Arial"/>
              </a:rPr>
              <a:t>NOÉMIE.K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E4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400" b="1">
                <a:solidFill>
                  <a:srgbClr val="141310"/>
                </a:solidFill>
                <a:latin typeface="Arial"/>
              </a:rPr>
              <a:t>Quel prix te semblerait juste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9692640" cy="4023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1310"/>
                </a:solidFill>
                <a:latin typeface="Arial"/>
              </a:rPr>
              <a:t>À partir de quel prix hésiterais-tu ? Réponse anonyme, sans décision à prendre aujourd'hui.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5F5B52"/>
                </a:solidFill>
                <a:latin typeface="Arial"/>
              </a:rPr>
              <a:t>OCTOBRE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80" y="6355080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5F5B52"/>
                </a:solidFill>
                <a:latin typeface="Arial"/>
              </a:rPr>
              <a:t>34/36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635508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1">
                <a:solidFill>
                  <a:srgbClr val="5F5B52"/>
                </a:solidFill>
                <a:latin typeface="Arial"/>
              </a:rPr>
              <a:t>NOÉMIE.K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E4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400" b="1">
                <a:solidFill>
                  <a:srgbClr val="141310"/>
                </a:solidFill>
                <a:latin typeface="Arial"/>
              </a:rPr>
              <a:t>Dernière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9692640" cy="4023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1310"/>
                </a:solidFill>
                <a:latin typeface="Arial"/>
              </a:rPr>
              <a:t>Veux-tu construire la suite seule, ou veux-tu qu'on la construise ensemble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5F5B52"/>
                </a:solidFill>
                <a:latin typeface="Arial"/>
              </a:rPr>
              <a:t>OCTOBRE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80" y="6355080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5F5B52"/>
                </a:solidFill>
                <a:latin typeface="Arial"/>
              </a:rPr>
              <a:t>35/36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635508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1">
                <a:solidFill>
                  <a:srgbClr val="5F5B52"/>
                </a:solidFill>
                <a:latin typeface="Arial"/>
              </a:rPr>
              <a:t>NOÉMIE.K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E4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800" b="1">
                <a:solidFill>
                  <a:srgbClr val="141310"/>
                </a:solidFill>
                <a:latin typeface="Arial"/>
              </a:rPr>
              <a:t>Merci pour ta franchise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10058400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600" b="0">
                <a:solidFill>
                  <a:srgbClr val="141310"/>
                </a:solidFill>
                <a:latin typeface="Arial"/>
              </a:rPr>
              <a:t>Un questionnaire de retour te sera envoyé après l'atelier.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0"/>
            <a:ext cx="10058400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000" b="0">
                <a:solidFill>
                  <a:srgbClr val="5F5B52"/>
                </a:solidFill>
                <a:latin typeface="Arial"/>
              </a:rPr>
              <a:t>– Tes réponses servent uniquement à améliorer le programme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5F5B52"/>
                </a:solidFill>
                <a:latin typeface="Arial"/>
              </a:rPr>
              <a:t>OCTOBRE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6355080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5F5B52"/>
                </a:solidFill>
                <a:latin typeface="Arial"/>
              </a:rPr>
              <a:t>36/36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35508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1">
                <a:solidFill>
                  <a:srgbClr val="5F5B52"/>
                </a:solidFill>
                <a:latin typeface="Arial"/>
              </a:rPr>
              <a:t>NOÉMIE.K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